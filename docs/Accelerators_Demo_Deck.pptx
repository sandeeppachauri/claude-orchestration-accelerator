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21"/>
    <p:sldId id="271" r:id="rId22"/>
    <p:sldId id="272" r:id="rId2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Agent SDK Accelerators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for faster, safer agent delivery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Sandeep Pachauri | Enterprise Architect &amp; Claude Architect Professional Certified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Need Accelerators — and the Benefits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project re-solves the same problems — auth, logging, prompt config, model routing, orchestration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 work slows delivery and delays the real business logic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auth handling, no tracing, untested config patterns raise risk &amp; cost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Benefits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160020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delivery — plug in auth, logging, config, routing on day one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— same pattern across every SDK project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 — battle-tested, tested modules, not copy-pasted one-offs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maintenance — fix once in the Accelerator, every project benefits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Config-driven changes — tighten prompts, swap models via YAML, no redeploy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to orchestrate — execute() composes auth + logging + prompts + routing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These Accelerators — and What They Save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5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00200"/>
            <a:ext cx="82296" cy="548640"/>
          </a:xfrm>
          <a:prstGeom prst="roundRect">
            <a:avLst/>
          </a:prstGeom>
          <a:solidFill>
            <a:srgbClr val="99001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5544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Accelerator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resolution: console key -&gt; OAuth session -&gt; OS-mounted session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5F6F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0" y="1600200"/>
            <a:ext cx="82296" cy="548640"/>
          </a:xfrm>
          <a:prstGeom prst="roundRect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5544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Logger Accelerator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JSON tracing of tool calls &amp; agent activity via hooks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5F6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2560320"/>
            <a:ext cx="82296" cy="548640"/>
          </a:xfrm>
          <a:prstGeom prst="round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2514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a git diff into a release-note bullet, built on Auth Accelerator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17920" y="242316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5F6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0" y="2560320"/>
            <a:ext cx="82296" cy="548640"/>
          </a:xfrm>
          <a:prstGeom prst="roundRect">
            <a:avLst/>
          </a:prstGeom>
          <a:solidFill>
            <a:srgbClr val="6D2E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29400" y="2514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Accelerator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accelerator: composes auth + logging + prompts + model routing behind one execute() call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04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 It Saves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3950208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-&gt; Minutes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448056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setup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280" y="384048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93008" y="3950208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custom code needed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493008" y="448056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Tracing/logging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0" y="384048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7648" y="3950208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 edit vs. redeploy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448056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tuning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048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5F6F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62288" y="3950208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 command via pipx (cpa new)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162288" y="448056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 bootstrap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· 1 OF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— Install the Accelerators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Accelerator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11880" y="1161288"/>
            <a:ext cx="7818120" cy="384048"/>
          </a:xfrm>
          <a:prstGeom prst="roundRect">
            <a:avLst>
              <a:gd name="adj" fmla="val 11905"/>
            </a:avLst>
          </a:prstGeom>
          <a:solidFill>
            <a:srgbClr val="242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49040" y="116128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-e claude-auth-accelerator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Logger Accelerator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1664208"/>
            <a:ext cx="7818120" cy="384048"/>
          </a:xfrm>
          <a:prstGeom prst="roundRect">
            <a:avLst>
              <a:gd name="adj" fmla="val 11905"/>
            </a:avLst>
          </a:prstGeom>
          <a:solidFill>
            <a:srgbClr val="242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49040" y="166420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-e ClaudeSDKLoggerAccelerator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 Agent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11880" y="2167128"/>
            <a:ext cx="7818120" cy="384048"/>
          </a:xfrm>
          <a:prstGeom prst="roundRect">
            <a:avLst>
              <a:gd name="adj" fmla="val 11905"/>
            </a:avLst>
          </a:prstGeom>
          <a:solidFill>
            <a:srgbClr val="2428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49040" y="216712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-e release-notes-agent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8803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Accelerator (master) — via pipx, per sample flag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sample process (default)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10881360" cy="502920"/>
          </a:xfrm>
          <a:prstGeom prst="roundRect">
            <a:avLst>
              <a:gd name="adj" fmla="val 9091"/>
            </a:avLst>
          </a:prstGeom>
          <a:solidFill>
            <a:srgbClr val="242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5661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pipx run --spec "git+https://github.com/sandeeppachauri/claude-orchestration-accelerator.git#subdirectory=project-accelerator" cpa new --project-name my-app --sample-needed yes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062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sample process (clean project)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10881360" cy="502920"/>
          </a:xfrm>
          <a:prstGeom prst="roundRect">
            <a:avLst>
              <a:gd name="adj" fmla="val 9091"/>
            </a:avLst>
          </a:prstGeom>
          <a:solidFill>
            <a:srgbClr val="2428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44805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pipx run --spec "git+https://github.com/sandeeppachauri/claude-orchestration-accelerator.git#subdirectory=project-accelerator" cpa new --project-name my-app --sample-needed no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· BUILT-IN SAFETY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&amp; Capabilities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— enforced per step, config-driven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redaction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28216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Denies a tool call if input matches a regex pattern (e.g. SSN-shaped strings) — config/guardrails.yaml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7685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rate_limit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23744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Denies a tool call once max_calls is hit within a trailing time window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7238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Attach via YAML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19272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[redactPII] on any step — no code change, resolved against config/guardrails.yaml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8679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Fail-open by default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148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guardrails key or missing config file = no restriction, same posture as MCP scoping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143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— whitelisted per backend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48132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step's capability keys are checked against capability_registry.yaml's per-backend allowlist before the model call — an unlisted key raises UnsupportedCapabilityError immediately, not a TypeError deep inside the SDK.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14884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agent_sdk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2395728"/>
            <a:ext cx="5394960" cy="777240"/>
          </a:xfrm>
          <a:prstGeom prst="roundRect">
            <a:avLst>
              <a:gd name="adj" fmla="val 5882"/>
            </a:avLst>
          </a:prstGeom>
          <a:solidFill>
            <a:srgbClr val="2428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72200" y="24688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max_turns, thinking, permission_mode, tools, disallowed_tools, mcp_servers, allowed_tools, guardrails, skills, resume, stream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329184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messages_api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3538728"/>
            <a:ext cx="5394960" cy="548640"/>
          </a:xfrm>
          <a:prstGeom prst="roundRect">
            <a:avLst>
              <a:gd name="adj" fmla="val 8333"/>
            </a:avLst>
          </a:prstGeom>
          <a:solidFill>
            <a:srgbClr val="2428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72200" y="361188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temperature, top_p, max_tokens, thinking, stop_sequences, skills, cache_control, stream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35040" y="4251960"/>
            <a:ext cx="5394960" cy="777240"/>
          </a:xfrm>
          <a:prstGeom prst="roundRect">
            <a:avLst>
              <a:gd name="adj" fmla="val 7059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431596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Disjoint, not a shared superset — agent_sdk has no temperature/top_p/max_tokens; messages_api has no permission_mode/max_turns. A step targeting both backends needs two separate capability blocks.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· SCAFFOLD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cpa new Generates — Project Structure</a:t>
            </a:r>
            <a:endParaRPr lang="en-US" sz="3000" dirty="0"/>
          </a:p>
        </p:txBody>
      </p:sp>
      <p:pic>
        <p:nvPicPr>
          <p:cNvPr id="4" name="Image 0" descr="project_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1920240" cy="44165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926080" y="13716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scaffolded project ships a full, ready-to-run skeleton: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2926080" y="17830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20574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reference Claude Code project skeleton — agents, commands, hooks, plugins, rules, skills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926080" y="24048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config/, docs/, examples/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267919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config, documentation stubs, and runnable examples (file upload, batch processing)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30266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prompts/*.yaml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330098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configs — scope, format, constraints as structured YAML, not buried prose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926080" y="364845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pipeline/run_pipeline.py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392277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Entry-point script wired to execute()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926080" y="427024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logs/trace.log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926080" y="454456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tracing output — on by default, all scopes enabled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926080" y="48920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  +  logger_config.json  +  .mcp.json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926080" y="51663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Environment, logging, and MCP config — pre-wired, ready to edit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926080" y="551383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926080" y="57881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pipeline test included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· 2 OF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— Configure Prompts &amp;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3716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steps in process_registry.yaml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6479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order, prompt file, model, fallback chain — the only place model/prompt config lives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468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prompts as YAML config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862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prompts/*.yaml — scope, format, and constraints as structured fields, not buried prose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661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{{key}} placeholders for dynamic input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5935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from execute()'s payload at call time; a later step can pull an earlier step's output too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EXAMPLE · 2-STEP · DYNAMIC INPUT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Configuration — Ticket Triage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ticket_triage.yaml  ({{key}} placeholders for dynamic input)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242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system_prompt: |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You are a support triage assistant. Every ticket belongs to 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{{customer_tier}}-tier customer -- weigh urgency accordingly.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user_prompt: |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Ticket {{ticket_id}} from {{customer_name}} ({{customer_tier}}): {{body}}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61488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call it with a dynamic input dict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008376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2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081528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project_accelerator import execute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execute({"process": "templatingDemo", "step": "triage",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"input": {"ticket_id": "T-1042", "customer_name": "Ada",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"customer_tier": "gold",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"body": "My invoice is showing a double charge"},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"backend": "agent_sdk"})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370832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F5F6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370832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response (result["triage"].output): </a:t>
            </a:r>
            <a:pPr indent="0" marL="0">
              <a:buNone/>
            </a:pPr>
            <a:r>
              <a:rPr lang="en-US" sz="105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"Category: Billing. Urgency: High (gold tier). Next action: escalate to billing team for immediate double-charge reversal."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· 3 OF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— Run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965960"/>
          </a:xfrm>
          <a:prstGeom prst="roundRect">
            <a:avLst>
              <a:gd name="adj" fmla="val 2791"/>
            </a:avLst>
          </a:prstGeom>
          <a:solidFill>
            <a:srgbClr val="2428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50876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project_accelerator import execute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execute({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"process": "ticketClassification",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"input": "some ticket text",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"environment": "local",     # local/dev -&gt; ambient claude login OAuth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"backend": "agent_sdk",     # or "messages_api"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auth, resolves the (process, step) from process_registry.yaml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model with automatic fallback via the model router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output against the prompt's format contract, then logs the turn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· 4 OF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— Scale 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02152" cy="2148840"/>
          </a:xfrm>
          <a:prstGeom prst="roundRect">
            <a:avLst>
              <a:gd name="adj" fmla="val 2128"/>
            </a:avLst>
          </a:prstGeom>
          <a:solidFill>
            <a:srgbClr val="F5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64792"/>
            <a:ext cx="73152" cy="1819656"/>
          </a:xfrm>
          <a:prstGeom prst="roundRect">
            <a:avLst>
              <a:gd name="adj" fmla="val 18750"/>
            </a:avLst>
          </a:prstGeom>
          <a:solidFill>
            <a:srgbClr val="99001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1728216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057400"/>
            <a:ext cx="2862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execute_batch() — submit many inputs as one Anthropic Message Batches job, not a loop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02152" cy="2148840"/>
          </a:xfrm>
          <a:prstGeom prst="roundRect">
            <a:avLst>
              <a:gd name="adj" fmla="val 2128"/>
            </a:avLst>
          </a:prstGeom>
          <a:solidFill>
            <a:srgbClr val="F5F6F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764792"/>
            <a:ext cx="73152" cy="1819656"/>
          </a:xfrm>
          <a:prstGeom prst="roundRect">
            <a:avLst>
              <a:gd name="adj" fmla="val 1875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09744" y="1728216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09744" y="2057400"/>
            <a:ext cx="2862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upload_file() — Files API upload (messages_api) or resolved local path (agent_sdk)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02152" cy="2148840"/>
          </a:xfrm>
          <a:prstGeom prst="roundRect">
            <a:avLst>
              <a:gd name="adj" fmla="val 2128"/>
            </a:avLst>
          </a:prstGeom>
          <a:solidFill>
            <a:srgbClr val="F5F6FA"/>
          </a:solidFill>
          <a:ln/>
        </p:spPr>
      </p:sp>
      <p:sp>
        <p:nvSpPr>
          <p:cNvPr id="13" name="Shape 11"/>
          <p:cNvSpPr/>
          <p:nvPr/>
        </p:nvSpPr>
        <p:spPr>
          <a:xfrm>
            <a:off x="8394192" y="1764792"/>
            <a:ext cx="73152" cy="1819656"/>
          </a:xfrm>
          <a:prstGeom prst="roundRect">
            <a:avLst>
              <a:gd name="adj" fmla="val 18750"/>
            </a:avLst>
          </a:prstGeom>
          <a:solidFill>
            <a:srgbClr val="6D2E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31936" y="1728216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sharing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31936" y="2057400"/>
            <a:ext cx="2862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context_mode: session shares one live conversation across steps and calls — resume, auto-trim, and session-store mirroring built 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3502152" cy="2148840"/>
          </a:xfrm>
          <a:prstGeom prst="roundRect">
            <a:avLst>
              <a:gd name="adj" fmla="val 2128"/>
            </a:avLst>
          </a:prstGeom>
          <a:solidFill>
            <a:srgbClr val="F5F6FA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187952"/>
            <a:ext cx="73152" cy="1819656"/>
          </a:xfrm>
          <a:prstGeom prst="roundRect">
            <a:avLst>
              <a:gd name="adj" fmla="val 18750"/>
            </a:avLst>
          </a:prstGeom>
          <a:solidFill>
            <a:srgbClr val="2F3C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4151376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Multi-environment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4480560"/>
            <a:ext cx="2862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"environment": local/dev (OAuth) vs. staging/prod (console API key) — same call shape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70832" y="4023360"/>
            <a:ext cx="3502152" cy="2148840"/>
          </a:xfrm>
          <a:prstGeom prst="roundRect">
            <a:avLst>
              <a:gd name="adj" fmla="val 2128"/>
            </a:avLst>
          </a:prstGeom>
          <a:solidFill>
            <a:srgbClr val="F5F6FA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0" y="4187952"/>
            <a:ext cx="73152" cy="1819656"/>
          </a:xfrm>
          <a:prstGeom prst="roundRect">
            <a:avLst>
              <a:gd name="adj" fmla="val 18750"/>
            </a:avLst>
          </a:prstGeom>
          <a:solidFill>
            <a:srgbClr val="B8504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09744" y="4151376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Per-step model config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09744" y="4480560"/>
            <a:ext cx="2862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max_turns, thinking, temperature, top_p — pass through with no accelerator code change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93024" y="4023360"/>
            <a:ext cx="3502152" cy="2148840"/>
          </a:xfrm>
          <a:prstGeom prst="roundRect">
            <a:avLst>
              <a:gd name="adj" fmla="val 2128"/>
            </a:avLst>
          </a:prstGeom>
          <a:solidFill>
            <a:srgbClr val="F5F6FA"/>
          </a:solidFill>
          <a:ln/>
        </p:spPr>
      </p:sp>
      <p:sp>
        <p:nvSpPr>
          <p:cNvPr id="25" name="Shape 23"/>
          <p:cNvSpPr/>
          <p:nvPr/>
        </p:nvSpPr>
        <p:spPr>
          <a:xfrm>
            <a:off x="8394192" y="4187952"/>
            <a:ext cx="73152" cy="1819656"/>
          </a:xfrm>
          <a:prstGeom prst="roundRect">
            <a:avLst>
              <a:gd name="adj" fmla="val 18750"/>
            </a:avLst>
          </a:prstGeom>
          <a:solidFill>
            <a:srgbClr val="21295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31936" y="4151376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processing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631936" y="4480560"/>
            <a:ext cx="2862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parallel_processing: true runs multiple steps concurrently, then auto-synthesizes the results into one output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MODES · ORCHESTRATION LOGGING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Capabilities Deep Dive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Accelerator — 3 Credential Modes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ApiKeyAuth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1051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ANTHROPIC_API_KEY (sk-ant-api...). Any environment, pay-as-you-go.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4086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OAuthSessionAuth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9689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claude CLI login (Teams/Pro/Max). local/dev only, via claude_agent_sdk subprocess.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2724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OsSessionAuth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8328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Host's ~/.claude session bind-mounted into a container — no raw key held.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5935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match wins — console key never silently shadowed by a stale mount. Two entry points: build_options() (SDK) and build_api_credential() (raw Messages API, console key only).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1887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Accelerator — What Gets Logged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53619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logging is on for every consumer (not opt-in) — wraps SDK Logger Accelerator with all 10 scopes enabled by default: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214884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035040" y="21488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778240" y="214884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78240" y="21488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MODEL_CALL_START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253288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0" y="25328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MODEL_CALL_END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778240" y="253288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778240" y="253288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ASSISTANT_TEXT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35040" y="291693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35040" y="291693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USER_INPUT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778240" y="291693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78240" y="291693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FULL_TURN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330098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35040" y="33009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778240" y="330098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778240" y="33009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368503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035040" y="368503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WARNING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778240" y="368503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5F6F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0" y="368503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DEBUG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035040" y="41148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as JSON lines to ./logs/trace.log (size-based rotation, 10MB, 5 backups). Each record: session_id, turn_index, timestamp, tool_name/input/result, latency_ms, model, usage, error.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the Agent SDK to Other Claude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SDK, the CLI, the Client SDK, and Managed Agents each fit different needs — the table below finds the one that matches what you're building.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you're...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46520" y="160020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92808"/>
            <a:ext cx="10881360" cy="0"/>
          </a:xfrm>
          <a:prstGeom prst="line">
            <a:avLst/>
          </a:prstGeom>
          <a:noFill/>
          <a:ln w="12700">
            <a:solidFill>
              <a:srgbClr val="D8DA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agent without implementing the tool loop yourself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05740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057400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that runs the agent loop in your own process, in Python or TypeScript.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69748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interactive development or running one-off tasks from a terminal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6974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CLI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97480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interface, built for daily interactive use.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375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API directly and implementing the tool loop yourself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333756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SDK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337560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to the Anthropic API rather than to Claude Code. You implement the tool loop yourself.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776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long-running or asynchronous agents without managing your own sandbox or session infrastructure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97764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Agents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97764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REST API, a separate product from the Agent SDK. Anthropic runs the agent and the sandbox.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873752"/>
            <a:ext cx="10881360" cy="621792"/>
          </a:xfrm>
          <a:prstGeom prst="roundRect">
            <a:avLst>
              <a:gd name="adj" fmla="val 735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873752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focus: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Accelerators are built for the Agent SDK path — auth, logging, prompt config, and orchestration for teams building agents as a library in their own process, not the CLI, raw Client SDK, or Managed Agents.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— What We'll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Accelerator resolving credentials automatically (no env-var wiring)</a:t>
            </a:r>
            <a:endParaRPr lang="en-US" sz="16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Logger Accelerator tracing tool calls in real time (JSON lines)</a:t>
            </a:r>
            <a:endParaRPr lang="en-US" sz="16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 Agent turning a git diff into a release-note bullet</a:t>
            </a:r>
            <a:endParaRPr lang="en-US" sz="16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Accelerator: scaffolding a new project with cpa new and running execute()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Repos: github.com/sandeeppachauri/Accelerators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github.com/sandeeppachauri/claude-orchestration-accelerator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Conversation, Concurrency &amp; Real-Time Output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0136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99001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7647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True multi-turn sessions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13055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context_mode: session keeps a live conversation accumulating across steps and calls, with resume and auto-trimming built in.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9" name="Shape 7"/>
          <p:cNvSpPr/>
          <p:nvPr/>
        </p:nvSpPr>
        <p:spPr>
          <a:xfrm>
            <a:off x="6492240" y="180136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7647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Parallel step execution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13055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multiple steps concurrently, then auto-synthesize the results into one output via a dedicated synthesis step.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40740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2F3C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" y="437083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Real-time streaming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73659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true plus an on_chunk callback delivers token-by-token responses on both the Agent SDK and Messages API backends.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420624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440740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B850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0" y="437083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Steps that build on steps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473659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steps can reference earlier steps' output via {{step_output}} placeholders — a real fix, and a big unlock for multi-step processes.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Control, Observability &amp; Reliability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0136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7647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Prompt caching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13055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 any step into an Anthropic cache breakpoint — no extra plumbing, just a config key.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9" name="Shape 7"/>
          <p:cNvSpPr/>
          <p:nvPr/>
        </p:nvSpPr>
        <p:spPr>
          <a:xfrm>
            <a:off x="6492240" y="180136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2F3C7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7647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Richer execute() results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13055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latency, stop reason, session ID, tool calls — structured, not just a string.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40740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" y="437083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Custom endpoint support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73659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ANTHROPIC_BASE_URL threaded through everywhere, for teams routing via a proxy or gateway.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420624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440740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99001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0" y="437083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Deeper tracing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473659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now show exactly what was sent to the model, not just a summary after the fact.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 · 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🐳 Deploy with Docker — One Flag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0136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99001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7647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One-flag Docker scaffolding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13055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 new --docker-project yes generates a full deployment kit: Dockerfile, docker-compose.yml, .dockerignore, and a FastAPI wrapper around your process — GET /health and a live endpoint, ready to build and run.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9" name="Shape 7"/>
          <p:cNvSpPr/>
          <p:nvPr/>
        </p:nvSpPr>
        <p:spPr>
          <a:xfrm>
            <a:off x="6492240" y="180136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7647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session auth in containers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13055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bind-mounts your existing claude login session (~/.claude, ~/.claude.json) into the container by default — falls back to ANTHROPIC_API_KEY if it's not present. No key required just to test a deployment.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40740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2F3C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" y="437083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of --sample-needed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73659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alongside the existing scaffold flags — pair it with a full sample process or a clean skeleton, whichever you're starting from.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4206240"/>
            <a:ext cx="5257800" cy="2286000"/>
          </a:xfrm>
          <a:prstGeom prst="roundRect">
            <a:avLst>
              <a:gd name="adj" fmla="val 2400"/>
            </a:avLst>
          </a:prstGeom>
          <a:solidFill>
            <a:srgbClr val="F5F6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4407408"/>
            <a:ext cx="91440" cy="1883664"/>
          </a:xfrm>
          <a:prstGeom prst="roundRect">
            <a:avLst>
              <a:gd name="adj" fmla="val 20000"/>
            </a:avLst>
          </a:prstGeom>
          <a:solidFill>
            <a:srgbClr val="B850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0" y="437083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build, verified end-to-end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4736592"/>
            <a:ext cx="452628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git availability and dependency install order in the base image. Verified: docker build succeeds, container starts, /health and the live endpoint respond correctly.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2026-08-27T05:49:35Z</dcterms:created>
  <dcterms:modified xsi:type="dcterms:W3CDTF">2026-08-27T05:49:35Z</dcterms:modified>
</cp:coreProperties>
</file>